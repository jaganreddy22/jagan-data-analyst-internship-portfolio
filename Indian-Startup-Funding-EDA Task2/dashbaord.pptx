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>
        <c:manualLayout>
          <c:layoutTarget val="inner"/>
          <c:xMode val="edge"/>
          <c:yMode val="edge"/>
          <c:x val="0.19004909108583648"/>
          <c:y val="0.26089129483814522"/>
          <c:w val="0.80995090891416355"/>
          <c:h val="0.3447944006999125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Cities Funding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Bengaluru</c:v>
                </c:pt>
                <c:pt idx="1">
                  <c:v>Mumbai</c:v>
                </c:pt>
                <c:pt idx="2">
                  <c:v>Delhi</c:v>
                </c:pt>
                <c:pt idx="3">
                  <c:v>Hyderabad</c:v>
                </c:pt>
                <c:pt idx="4">
                  <c:v>Chennai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420</c:v>
                </c:pt>
                <c:pt idx="2">
                  <c:v>380</c:v>
                </c:pt>
                <c:pt idx="3">
                  <c:v>300</c:v>
                </c:pt>
                <c:pt idx="4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80-4BB3-8A6D-B27948F6B7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Funding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FinTech</c:v>
                </c:pt>
                <c:pt idx="1">
                  <c:v>E-Commerce</c:v>
                </c:pt>
                <c:pt idx="2">
                  <c:v>HealthTech</c:v>
                </c:pt>
                <c:pt idx="3">
                  <c:v>EdTech</c:v>
                </c:pt>
                <c:pt idx="4">
                  <c:v>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600</c:v>
                </c:pt>
                <c:pt idx="1">
                  <c:v>520</c:v>
                </c:pt>
                <c:pt idx="2">
                  <c:v>410</c:v>
                </c:pt>
                <c:pt idx="3">
                  <c:v>390</c:v>
                </c:pt>
                <c:pt idx="4">
                  <c:v>350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40-43BE-93A1-8722845D2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Investors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Sequoia</c:v>
                </c:pt>
                <c:pt idx="1">
                  <c:v>Accel</c:v>
                </c:pt>
                <c:pt idx="2">
                  <c:v>Tiger</c:v>
                </c:pt>
                <c:pt idx="3">
                  <c:v>SoftBank</c:v>
                </c:pt>
                <c:pt idx="4">
                  <c:v>Lightspeed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550</c:v>
                </c:pt>
                <c:pt idx="1">
                  <c:v>480</c:v>
                </c:pt>
                <c:pt idx="2">
                  <c:v>460</c:v>
                </c:pt>
                <c:pt idx="3">
                  <c:v>430</c:v>
                </c:pt>
                <c:pt idx="4">
                  <c:v>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99-4FF9-BE4A-3D587914B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Type %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Seed</c:v>
                </c:pt>
                <c:pt idx="1">
                  <c:v>Series A</c:v>
                </c:pt>
                <c:pt idx="2">
                  <c:v>Series B</c:v>
                </c:pt>
                <c:pt idx="3">
                  <c:v>Debt</c:v>
                </c:pt>
                <c:pt idx="4">
                  <c:v>Angel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16-4A39-9FF0-45F2F4DAF4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Startups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Paytm</c:v>
                </c:pt>
                <c:pt idx="1">
                  <c:v>Ola</c:v>
                </c:pt>
                <c:pt idx="2">
                  <c:v>Swiggy</c:v>
                </c:pt>
                <c:pt idx="3">
                  <c:v>Zomato</c:v>
                </c:pt>
                <c:pt idx="4">
                  <c:v>Byju's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700</c:v>
                </c:pt>
                <c:pt idx="1">
                  <c:v>650</c:v>
                </c:pt>
                <c:pt idx="2">
                  <c:v>600</c:v>
                </c:pt>
                <c:pt idx="3">
                  <c:v>580</c:v>
                </c:pt>
                <c:pt idx="4">
                  <c:v>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F7-4363-95EF-51810719EF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Funding (M$)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Seed</c:v>
                </c:pt>
                <c:pt idx="1">
                  <c:v>Series A</c:v>
                </c:pt>
                <c:pt idx="2">
                  <c:v>Series B</c:v>
                </c:pt>
                <c:pt idx="3">
                  <c:v>Angel</c:v>
                </c:pt>
                <c:pt idx="4">
                  <c:v>Debt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1.5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11-43A4-9211-9E84AE5EE6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Yearly Trend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</c:v>
                </c:pt>
                <c:pt idx="1">
                  <c:v>400</c:v>
                </c:pt>
                <c:pt idx="2">
                  <c:v>350</c:v>
                </c:pt>
                <c:pt idx="3">
                  <c:v>600</c:v>
                </c:pt>
                <c:pt idx="4">
                  <c:v>550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C0-48AF-B761-7C80A4FA33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Share %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FinTech</c:v>
                </c:pt>
                <c:pt idx="1">
                  <c:v>E-Commerce</c:v>
                </c:pt>
                <c:pt idx="2">
                  <c:v>HealthTech</c:v>
                </c:pt>
                <c:pt idx="3">
                  <c:v>EdTech</c:v>
                </c:pt>
                <c:pt idx="4">
                  <c:v>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24</c:v>
                </c:pt>
                <c:pt idx="2">
                  <c:v>18</c:v>
                </c:pt>
                <c:pt idx="3">
                  <c:v>16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1E-4D1C-B486-CB6216FEA7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1154" y="182880"/>
            <a:ext cx="804168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dirty="0"/>
              <a:t>Indian Startup Funding Dashboard  - Task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743200" cy="914400"/>
          </a:xfrm>
          <a:prstGeom prst="round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Total Funding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$2.5B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097280"/>
            <a:ext cx="2743200" cy="914400"/>
          </a:xfrm>
          <a:prstGeom prst="round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Total Startups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1200+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97280"/>
            <a:ext cx="2743200" cy="914400"/>
          </a:xfrm>
          <a:prstGeom prst="round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Top City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Bengaluru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377439"/>
            <a:ext cx="2743200" cy="914400"/>
          </a:xfrm>
          <a:prstGeom prst="round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Top Industry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FinTech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377439"/>
            <a:ext cx="2743200" cy="914400"/>
          </a:xfrm>
          <a:prstGeom prst="round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Top Investor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Sequoia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377439"/>
            <a:ext cx="2743200" cy="914400"/>
          </a:xfrm>
          <a:prstGeom prst="round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Peak Year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Top Cities &amp; Industries by Funding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180817"/>
              </p:ext>
            </p:extLst>
          </p:nvPr>
        </p:nvGraphicFramePr>
        <p:xfrm>
          <a:off x="274320" y="1976284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319764"/>
              </p:ext>
            </p:extLst>
          </p:nvPr>
        </p:nvGraphicFramePr>
        <p:xfrm>
          <a:off x="4754880" y="1976284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Top Investors &amp; Investment Types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795789"/>
              </p:ext>
            </p:extLst>
          </p:nvPr>
        </p:nvGraphicFramePr>
        <p:xfrm>
          <a:off x="372643" y="2851355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688051"/>
              </p:ext>
            </p:extLst>
          </p:nvPr>
        </p:nvGraphicFramePr>
        <p:xfrm>
          <a:off x="4656559" y="205740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Top Startups &amp; Avg Funding by Type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364319"/>
              </p:ext>
            </p:extLst>
          </p:nvPr>
        </p:nvGraphicFramePr>
        <p:xfrm>
          <a:off x="274320" y="2772697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301975"/>
              </p:ext>
            </p:extLst>
          </p:nvPr>
        </p:nvGraphicFramePr>
        <p:xfrm>
          <a:off x="4572000" y="2910348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Yearly Funding Trend &amp; Industry Share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059749"/>
              </p:ext>
            </p:extLst>
          </p:nvPr>
        </p:nvGraphicFramePr>
        <p:xfrm>
          <a:off x="549623" y="3028335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354988"/>
              </p:ext>
            </p:extLst>
          </p:nvPr>
        </p:nvGraphicFramePr>
        <p:xfrm>
          <a:off x="4664423" y="2475935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Jagan Mohan Reddy BasiReddy</cp:lastModifiedBy>
  <cp:revision>3</cp:revision>
  <dcterms:created xsi:type="dcterms:W3CDTF">2013-01-27T09:14:16Z</dcterms:created>
  <dcterms:modified xsi:type="dcterms:W3CDTF">2026-02-19T17:35:03Z</dcterms:modified>
  <cp:category/>
</cp:coreProperties>
</file>